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2" r:id="rId5"/>
  </p:sldMasterIdLst>
  <p:notesMasterIdLst>
    <p:notesMasterId r:id="rId10"/>
  </p:notesMasterIdLst>
  <p:sldIdLst>
    <p:sldId id="273" r:id="rId6"/>
    <p:sldId id="263" r:id="rId7"/>
    <p:sldId id="264" r:id="rId8"/>
    <p:sldId id="274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FF"/>
    <a:srgbClr val="33CCFF"/>
    <a:srgbClr val="CCCCCC"/>
    <a:srgbClr val="0099FF"/>
    <a:srgbClr val="DDDDDD"/>
    <a:srgbClr val="0099CC"/>
    <a:srgbClr val="66CCFF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4A4EF8-826B-47E6-8510-FD9EE17386A4}" v="5" dt="2026-01-06T10:13:45.1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514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鄧　丹 / tou tan" userId="ef0b1ad1-ea8d-431d-a89e-bde36086e558" providerId="ADAL" clId="{0955279D-A6BD-4A50-9C00-EB00BAB4A0FB}"/>
    <pc:docChg chg="undo custSel modSld">
      <pc:chgData name="鄧　丹 / tou tan" userId="ef0b1ad1-ea8d-431d-a89e-bde36086e558" providerId="ADAL" clId="{0955279D-A6BD-4A50-9C00-EB00BAB4A0FB}" dt="2026-01-08T00:40:32.983" v="809" actId="20577"/>
      <pc:docMkLst>
        <pc:docMk/>
      </pc:docMkLst>
      <pc:sldChg chg="modSp mod">
        <pc:chgData name="鄧　丹 / tou tan" userId="ef0b1ad1-ea8d-431d-a89e-bde36086e558" providerId="ADAL" clId="{0955279D-A6BD-4A50-9C00-EB00BAB4A0FB}" dt="2026-01-06T10:13:30.218" v="802" actId="207"/>
        <pc:sldMkLst>
          <pc:docMk/>
          <pc:sldMk cId="587743636" sldId="264"/>
        </pc:sldMkLst>
        <pc:spChg chg="mod">
          <ac:chgData name="鄧　丹 / tou tan" userId="ef0b1ad1-ea8d-431d-a89e-bde36086e558" providerId="ADAL" clId="{0955279D-A6BD-4A50-9C00-EB00BAB4A0FB}" dt="2026-01-06T10:13:30.218" v="802" actId="207"/>
          <ac:spMkLst>
            <pc:docMk/>
            <pc:sldMk cId="587743636" sldId="264"/>
            <ac:spMk id="6" creationId="{00000000-0000-0000-0000-000000000000}"/>
          </ac:spMkLst>
        </pc:spChg>
      </pc:sldChg>
      <pc:sldChg chg="modSp mod">
        <pc:chgData name="鄧　丹 / tou tan" userId="ef0b1ad1-ea8d-431d-a89e-bde36086e558" providerId="ADAL" clId="{0955279D-A6BD-4A50-9C00-EB00BAB4A0FB}" dt="2026-01-08T00:40:32.983" v="809" actId="20577"/>
        <pc:sldMkLst>
          <pc:docMk/>
          <pc:sldMk cId="1405839164" sldId="273"/>
        </pc:sldMkLst>
        <pc:graphicFrameChg chg="mod modGraphic">
          <ac:chgData name="鄧　丹 / tou tan" userId="ef0b1ad1-ea8d-431d-a89e-bde36086e558" providerId="ADAL" clId="{0955279D-A6BD-4A50-9C00-EB00BAB4A0FB}" dt="2026-01-08T00:40:32.983" v="809" actId="20577"/>
          <ac:graphicFrameMkLst>
            <pc:docMk/>
            <pc:sldMk cId="1405839164" sldId="273"/>
            <ac:graphicFrameMk id="3" creationId="{00000000-0000-0000-0000-000000000000}"/>
          </ac:graphicFrameMkLst>
        </pc:graphicFrameChg>
      </pc:sldChg>
      <pc:sldChg chg="modSp mod">
        <pc:chgData name="鄧　丹 / tou tan" userId="ef0b1ad1-ea8d-431d-a89e-bde36086e558" providerId="ADAL" clId="{0955279D-A6BD-4A50-9C00-EB00BAB4A0FB}" dt="2026-01-08T00:40:10.666" v="805" actId="207"/>
        <pc:sldMkLst>
          <pc:docMk/>
          <pc:sldMk cId="2441769343" sldId="274"/>
        </pc:sldMkLst>
        <pc:spChg chg="mod">
          <ac:chgData name="鄧　丹 / tou tan" userId="ef0b1ad1-ea8d-431d-a89e-bde36086e558" providerId="ADAL" clId="{0955279D-A6BD-4A50-9C00-EB00BAB4A0FB}" dt="2026-01-08T00:40:10.666" v="805" actId="207"/>
          <ac:spMkLst>
            <pc:docMk/>
            <pc:sldMk cId="2441769343" sldId="274"/>
            <ac:spMk id="6" creationId="{D4E005C5-C128-0D93-F817-0EF184E775C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BFBA58-CD71-4224-895E-59D6A5711539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A73ACB-9B84-4C21-8151-6BF4CCE92A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4521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A73ACB-9B84-4C21-8151-6BF4CCE92AC9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4098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A73ACB-9B84-4C21-8151-6BF4CCE92AC9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70364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6994F-6687-164E-D09B-A8603D65A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C8EE35C-6EB1-8972-8BCA-67C1B83079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BCAFF93-1F4C-C2A1-BC28-234C8BD35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03D4DF8-F42A-FD0A-F341-97701770A4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A73ACB-9B84-4C21-8151-6BF4CCE92AC9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7922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CC671-CC31-44FE-AC87-0E93FC695A9A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7FCB-1BCD-4506-8E0E-019FB5C66F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6868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CC671-CC31-44FE-AC87-0E93FC695A9A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7FCB-1BCD-4506-8E0E-019FB5C66F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6365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CC671-CC31-44FE-AC87-0E93FC695A9A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7FCB-1BCD-4506-8E0E-019FB5C66F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9255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CC671-CC31-44FE-AC87-0E93FC695A9A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7FCB-1BCD-4506-8E0E-019FB5C66F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0164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CC671-CC31-44FE-AC87-0E93FC695A9A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7FCB-1BCD-4506-8E0E-019FB5C66F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7261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CC671-CC31-44FE-AC87-0E93FC695A9A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7FCB-1BCD-4506-8E0E-019FB5C66F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3071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CC671-CC31-44FE-AC87-0E93FC695A9A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7FCB-1BCD-4506-8E0E-019FB5C66F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0096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CC671-CC31-44FE-AC87-0E93FC695A9A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7FCB-1BCD-4506-8E0E-019FB5C66F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656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CC671-CC31-44FE-AC87-0E93FC695A9A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7FCB-1BCD-4506-8E0E-019FB5C66F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1128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CC671-CC31-44FE-AC87-0E93FC695A9A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7FCB-1BCD-4506-8E0E-019FB5C66F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7208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CC671-CC31-44FE-AC87-0E93FC695A9A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7FCB-1BCD-4506-8E0E-019FB5C66F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2374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F02600-A88C-4750-A175-B32192C71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B64A80C-14EA-458F-AC79-B98FC0BD04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A28908-B91F-41DE-9AA1-84E00EE52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25E2E-0DA1-4468-8C4D-527742B2ECBE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E388A7-0590-4FED-8994-FADBE60C9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Rectangle 31"/>
          <p:cNvSpPr>
            <a:spLocks noChangeArrowheads="1"/>
          </p:cNvSpPr>
          <p:nvPr userDrawn="1"/>
        </p:nvSpPr>
        <p:spPr bwMode="auto">
          <a:xfrm>
            <a:off x="11660555" y="58859"/>
            <a:ext cx="445477" cy="323850"/>
          </a:xfrm>
          <a:prstGeom prst="rect">
            <a:avLst/>
          </a:prstGeom>
          <a:noFill/>
          <a:ln w="222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3963666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8E5D91-D040-4C9E-B053-33DA3938F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002447F-084A-4911-88A7-731B34B21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2EB850E-5F7E-4CAE-BFA8-E2959FF6D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25E2E-0DA1-4468-8C4D-527742B2ECBE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CC7AB60-01D8-4EFD-BD4E-302A84135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78106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BCF01D-CA26-4433-AE0A-DCBFF9B50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F72BA03-2382-4985-BD4E-220C76F0C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B9E1E7-3196-4CEB-902A-D9E424A15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25E2E-0DA1-4468-8C4D-527742B2ECBE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77C20D-165A-47F0-B459-D963FBB77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60118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D90169-1390-434C-9A87-080D91D0C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0D0A05-6A40-419C-820F-F735173114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D3F15B3-F73B-483E-B192-E5BD89167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539AD89-AA33-45FB-BDB3-58F005752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25E2E-0DA1-4468-8C4D-527742B2ECBE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74A1D33-608A-413C-9572-DE743195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88772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A676E5-AD43-4876-8FF6-75ADC305A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5F77692-BB5A-485B-B155-2A5A21A01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71BABD9-8938-4208-9189-A0C6A4E74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8BC03DF-D129-4817-BC16-490B16E36A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3D2282B-EC3B-4830-BC0D-4E8E8CB4CA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D4DEBC9-CB01-46FF-8557-B5AB9A78F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25E2E-0DA1-4468-8C4D-527742B2ECBE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0A30B0E-AB6F-4B3F-AC5B-65ACAF743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29549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1DF196-957E-4522-B7B8-D43E3300E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920B157-0E30-4D0D-960B-355D26E69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25E2E-0DA1-4468-8C4D-527742B2ECBE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2223C3A-472A-4392-AFD3-32A940415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48536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40C7C91-B02D-47BA-9F97-22F38184E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25E2E-0DA1-4468-8C4D-527742B2ECBE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FD59FFD-0447-414E-B0E9-07E6E9B1E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22124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DB1B0D-50D3-4C97-A0FD-B89745FE6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B687499-6F9E-4A93-A9B6-D65762B97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AC0DD92-0AEB-46ED-8F96-68291F52BA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DC8E849-6DC2-46F4-985A-D446B07B4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25E2E-0DA1-4468-8C4D-527742B2ECBE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9E4BA9F-72AE-4EDC-98CA-51C7E97EC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18930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D77A71-85B7-4ACB-9F76-52B07B5B8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B2C2067-28AF-470D-9199-6D22602E1A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27BBD9F-E53D-44D7-9464-5D2BDBF59E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899D307-61BE-43D0-A8C7-D4730A15F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25E2E-0DA1-4468-8C4D-527742B2ECBE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3C43546-8537-429B-8A49-8A3E9E2A3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76017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D6110D-17E9-4DAA-A82E-5A7A7EABC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A0744A4-72F4-45CC-9925-80FFC4CDC2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958B86-CDCF-436D-B1FA-42AD30A75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25E2E-0DA1-4468-8C4D-527742B2ECBE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474AE8A-EAB9-47D6-96AB-FA35F5F87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81567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B104B31-A12F-4C2D-80F1-F2E8ABDA93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36D3834-A265-499E-B6F2-E4DBABBC6C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7DC8F3-0634-4257-B708-B4C59F904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25E2E-0DA1-4468-8C4D-527742B2ECBE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3CB8B7-1967-4BA7-9AC8-4B735E6E4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4455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CC671-CC31-44FE-AC87-0E93FC695A9A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F7FCB-1BCD-4506-8E0E-019FB5C66F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013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直角三角形 11"/>
          <p:cNvSpPr/>
          <p:nvPr userDrawn="1"/>
        </p:nvSpPr>
        <p:spPr>
          <a:xfrm flipH="1">
            <a:off x="11811699" y="6459524"/>
            <a:ext cx="388691" cy="415255"/>
          </a:xfrm>
          <a:prstGeom prst="rt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ja-JP" altLang="en-US" sz="1350">
              <a:solidFill>
                <a:schemeClr val="tx1"/>
              </a:solidFill>
            </a:endParaRPr>
          </a:p>
        </p:txBody>
      </p:sp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4FB0618-4EB5-4551-B4EC-24BDC121E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13" y="17578"/>
            <a:ext cx="7966185" cy="3997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ACE387-A092-402B-9F29-3EFAB034A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40903"/>
            <a:ext cx="10515600" cy="50360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B959E8-0A09-4EE1-8F58-B9608F6F1D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25E2E-0DA1-4468-8C4D-527742B2ECBE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8988C26-72AC-4899-9B97-D3A7CA4EBA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Line 7"/>
          <p:cNvSpPr>
            <a:spLocks noChangeShapeType="1"/>
          </p:cNvSpPr>
          <p:nvPr userDrawn="1"/>
        </p:nvSpPr>
        <p:spPr bwMode="auto">
          <a:xfrm>
            <a:off x="0" y="450850"/>
            <a:ext cx="12192000" cy="0"/>
          </a:xfrm>
          <a:prstGeom prst="line">
            <a:avLst/>
          </a:prstGeom>
          <a:noFill/>
          <a:ln w="28575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ja-JP" altLang="en-US" sz="1350"/>
          </a:p>
        </p:txBody>
      </p:sp>
      <p:sp>
        <p:nvSpPr>
          <p:cNvPr id="8" name="Rectangle 35"/>
          <p:cNvSpPr>
            <a:spLocks noChangeArrowheads="1"/>
          </p:cNvSpPr>
          <p:nvPr userDrawn="1"/>
        </p:nvSpPr>
        <p:spPr bwMode="auto">
          <a:xfrm>
            <a:off x="11685805" y="68387"/>
            <a:ext cx="407995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ja-JP" sz="1350">
                <a:solidFill>
                  <a:schemeClr val="bg2">
                    <a:lumMod val="50000"/>
                  </a:schemeClr>
                </a:solidFill>
                <a:latin typeface="HGP創英角ｺﾞｼｯｸUB" pitchFamily="50" charset="-128"/>
                <a:ea typeface="HGP創英角ｺﾞｼｯｸUB" pitchFamily="50" charset="-128"/>
              </a:rPr>
              <a:t>B</a:t>
            </a:r>
            <a:endParaRPr lang="ja-JP" altLang="en-US" sz="1200">
              <a:solidFill>
                <a:schemeClr val="bg2">
                  <a:lumMod val="50000"/>
                </a:schemeClr>
              </a:solidFill>
              <a:latin typeface="HGP創英角ｺﾞｼｯｸUB" pitchFamily="50" charset="-128"/>
              <a:ea typeface="HGP創英角ｺﾞｼｯｸUB" pitchFamily="50" charset="-128"/>
            </a:endParaRPr>
          </a:p>
        </p:txBody>
      </p:sp>
      <p:pic>
        <p:nvPicPr>
          <p:cNvPr id="9" name="Picture 23">
            <a:extLst>
              <a:ext uri="{FF2B5EF4-FFF2-40B4-BE49-F238E27FC236}">
                <a16:creationId xmlns:a16="http://schemas.microsoft.com/office/drawing/2014/main" id="{C3E66234-382F-4212-869D-9D2F3956CF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5544" y="51134"/>
            <a:ext cx="1973939" cy="33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スライド番号プレースホルダー 5">
            <a:extLst>
              <a:ext uri="{FF2B5EF4-FFF2-40B4-BE49-F238E27FC236}">
                <a16:creationId xmlns:a16="http://schemas.microsoft.com/office/drawing/2014/main" id="{1E64D83B-04FE-4D1F-912C-6692C70CE4AB}"/>
              </a:ext>
            </a:extLst>
          </p:cNvPr>
          <p:cNvSpPr txBox="1">
            <a:spLocks/>
          </p:cNvSpPr>
          <p:nvPr userDrawn="1"/>
        </p:nvSpPr>
        <p:spPr>
          <a:xfrm>
            <a:off x="9492916" y="6557045"/>
            <a:ext cx="2743200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2B90EB-72C8-4824-849A-C6540B4325AE}" type="slidenum">
              <a:rPr lang="ja-JP" altLang="en-US" sz="900" smtClean="0">
                <a:solidFill>
                  <a:schemeClr val="bg1"/>
                </a:solidFill>
              </a:rPr>
              <a:pPr/>
              <a:t>‹#›</a:t>
            </a:fld>
            <a:endParaRPr lang="ja-JP" altLang="en-US" sz="900">
              <a:solidFill>
                <a:schemeClr val="bg1"/>
              </a:solidFill>
            </a:endParaRPr>
          </a:p>
        </p:txBody>
      </p:sp>
      <p:sp>
        <p:nvSpPr>
          <p:cNvPr id="14" name="Rectangle 31"/>
          <p:cNvSpPr>
            <a:spLocks noChangeArrowheads="1"/>
          </p:cNvSpPr>
          <p:nvPr userDrawn="1"/>
        </p:nvSpPr>
        <p:spPr bwMode="auto">
          <a:xfrm>
            <a:off x="11660555" y="58859"/>
            <a:ext cx="445477" cy="323850"/>
          </a:xfrm>
          <a:prstGeom prst="rect">
            <a:avLst/>
          </a:prstGeom>
          <a:noFill/>
          <a:ln w="22225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ja-JP" altLang="en-US" sz="135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2327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15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変更履歴</a:t>
            </a:r>
          </a:p>
        </p:txBody>
      </p:sp>
      <p:graphicFrame>
        <p:nvGraphicFramePr>
          <p:cNvPr id="3" name="表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611749"/>
              </p:ext>
            </p:extLst>
          </p:nvPr>
        </p:nvGraphicFramePr>
        <p:xfrm>
          <a:off x="311842" y="719666"/>
          <a:ext cx="1147577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237">
                  <a:extLst>
                    <a:ext uri="{9D8B030D-6E8A-4147-A177-3AD203B41FA5}">
                      <a16:colId xmlns:a16="http://schemas.microsoft.com/office/drawing/2014/main" val="4206034548"/>
                    </a:ext>
                  </a:extLst>
                </a:gridCol>
                <a:gridCol w="1267485">
                  <a:extLst>
                    <a:ext uri="{9D8B030D-6E8A-4147-A177-3AD203B41FA5}">
                      <a16:colId xmlns:a16="http://schemas.microsoft.com/office/drawing/2014/main" val="1197890804"/>
                    </a:ext>
                  </a:extLst>
                </a:gridCol>
                <a:gridCol w="2236206">
                  <a:extLst>
                    <a:ext uri="{9D8B030D-6E8A-4147-A177-3AD203B41FA5}">
                      <a16:colId xmlns:a16="http://schemas.microsoft.com/office/drawing/2014/main" val="2166372331"/>
                    </a:ext>
                  </a:extLst>
                </a:gridCol>
                <a:gridCol w="7423842">
                  <a:extLst>
                    <a:ext uri="{9D8B030D-6E8A-4147-A177-3AD203B41FA5}">
                      <a16:colId xmlns:a16="http://schemas.microsoft.com/office/drawing/2014/main" val="24486822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修正日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修正箇所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修正内容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213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/>
                        <a:t>r1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2025/11/20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全体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新規作成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792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/>
                        <a:t>r2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/>
                        <a:t>2026/01/08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処理概要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バッチ起動後、</a:t>
                      </a:r>
                      <a:r>
                        <a:rPr kumimoji="1" lang="en-US" altLang="ja-JP" dirty="0"/>
                        <a:t>API</a:t>
                      </a:r>
                      <a:r>
                        <a:rPr kumimoji="1" lang="ja-JP" altLang="en-US" dirty="0"/>
                        <a:t>実行条件に関する内容を新規追加。</a:t>
                      </a:r>
                      <a:endParaRPr kumimoji="1" lang="en-US" altLang="ja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188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681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baseline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ja-JP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917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733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996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442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5839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000"/>
              <a:t>【</a:t>
            </a:r>
            <a:r>
              <a:rPr lang="ja-JP" altLang="en-US" sz="2000"/>
              <a:t>エネマネ</a:t>
            </a:r>
            <a:r>
              <a:rPr lang="en-US" altLang="ja-JP" sz="2000"/>
              <a:t>】</a:t>
            </a:r>
            <a:r>
              <a:rPr lang="ja-JP" altLang="en-US" sz="2000"/>
              <a:t>バッチ仕様書</a:t>
            </a:r>
            <a:endParaRPr kumimoji="1" lang="ja-JP" altLang="en-US" sz="200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09005" y="714103"/>
            <a:ext cx="5140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u="sng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目次</a:t>
            </a:r>
            <a:endParaRPr lang="en-US" altLang="ja-JP" b="1" u="sng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・バッチ概要</a:t>
            </a:r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・施設と設備の考え方</a:t>
            </a:r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40596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000"/>
              <a:t>【</a:t>
            </a:r>
            <a:r>
              <a:rPr lang="ja-JP" altLang="en-US" sz="2000"/>
              <a:t>エネマネ</a:t>
            </a:r>
            <a:r>
              <a:rPr lang="en-US" altLang="ja-JP" sz="2000"/>
              <a:t>】</a:t>
            </a:r>
            <a:r>
              <a:rPr lang="ja-JP" altLang="en-US" sz="2000"/>
              <a:t>バッチ仕様書</a:t>
            </a:r>
            <a:endParaRPr kumimoji="1" lang="ja-JP" altLang="en-US" sz="200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43840" y="731520"/>
            <a:ext cx="1158297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u="sng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バッチ概要</a:t>
            </a:r>
          </a:p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エコめがね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API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を定期的に実行し、電力量情報を取得し、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DB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に蓄積する。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b="1" u="sng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構成</a:t>
            </a:r>
            <a:endParaRPr lang="en-US" altLang="ja-JP" b="1" u="sng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バッチ名：電力量データ取得バッチ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実行環境：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Lambda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バッチ（</a:t>
            </a:r>
            <a:r>
              <a:rPr lang="en-US" altLang="ja-JP" dirty="0" err="1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EventBridge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）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実行スケジュール：毎時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ja-JP" b="1" u="sng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b="1" u="sng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処理概要</a:t>
            </a:r>
            <a:endParaRPr lang="en-US" altLang="ja-JP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バッチ起動後、</a:t>
            </a:r>
            <a:r>
              <a:rPr lang="en-US" altLang="ja-JP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1</a:t>
            </a:r>
            <a:r>
              <a:rPr lang="ja-JP" altLang="en-US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つの設備に関する情報（設備</a:t>
            </a:r>
            <a:r>
              <a:rPr lang="en-US" altLang="ja-JP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ID</a:t>
            </a:r>
            <a:r>
              <a:rPr lang="ja-JP" altLang="en-US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、商品</a:t>
            </a:r>
            <a:r>
              <a:rPr lang="en-US" altLang="ja-JP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ID</a:t>
            </a:r>
            <a:r>
              <a:rPr lang="ja-JP" altLang="en-US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、太陽光パネル情報、</a:t>
            </a:r>
            <a:r>
              <a:rPr lang="en-US" altLang="ja-JP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PCS</a:t>
            </a:r>
            <a:r>
              <a:rPr lang="ja-JP" altLang="en-US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情報、蓄電池情報、スマートメータ情報）の登録が全て揃っている状態でエコめがね</a:t>
            </a:r>
            <a:r>
              <a:rPr lang="en-US" altLang="ja-JP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API</a:t>
            </a:r>
            <a:r>
              <a:rPr lang="ja-JP" altLang="en-US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を実行する。（全て揃えないとエコめがね</a:t>
            </a:r>
            <a:r>
              <a:rPr lang="en-US" altLang="ja-JP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API</a:t>
            </a:r>
            <a:r>
              <a:rPr lang="ja-JP" altLang="en-US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を実行しない）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エコめがね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API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を実行することで電力量データの取得を行い、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DB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に蓄積する。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※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エコめがね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API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の実行方法は、「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【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エネルギー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】【API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仕様書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】IF-US01_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エコめがね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API.xlsx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」を参照してください。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また、エコめがね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API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は、設備数分ループで実行し、設備ごとの電力量を取得する。</a:t>
            </a:r>
            <a:endParaRPr lang="en-US" altLang="ja-JP" b="1" u="sng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ja-JP" b="1" u="sng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b="1" u="sng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リカバリープラン</a:t>
            </a:r>
            <a:endParaRPr lang="en-US" altLang="ja-JP" b="1" u="sng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バッチが異常終了した場合は、エラーログを出して終了。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後日、引数に対象日を指定し、手動再実行する。（電力データの取得は、引数に指定した日にちのデータを取得すること）</a:t>
            </a:r>
            <a:endParaRPr lang="en-US" altLang="ja-JP" b="1" u="sng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87743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A7858-67AD-AD45-DB35-C24051700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735A388E-443A-174C-EAC0-02CDF5808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000"/>
              <a:t>【</a:t>
            </a:r>
            <a:r>
              <a:rPr lang="ja-JP" altLang="en-US" sz="2000"/>
              <a:t>エネマネ</a:t>
            </a:r>
            <a:r>
              <a:rPr lang="en-US" altLang="ja-JP" sz="2000"/>
              <a:t>】</a:t>
            </a:r>
            <a:r>
              <a:rPr lang="ja-JP" altLang="en-US" sz="2000"/>
              <a:t>バッチ仕様書</a:t>
            </a:r>
            <a:endParaRPr kumimoji="1" lang="ja-JP" altLang="en-US" sz="20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4E005C5-C128-0D93-F817-0EF184E775C0}"/>
              </a:ext>
            </a:extLst>
          </p:cNvPr>
          <p:cNvSpPr txBox="1"/>
          <p:nvPr/>
        </p:nvSpPr>
        <p:spPr>
          <a:xfrm>
            <a:off x="243840" y="731520"/>
            <a:ext cx="115829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u="sng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施設と設備の考え方</a:t>
            </a:r>
          </a:p>
          <a:p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1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つの施設に複数の設備（太陽光パネル、</a:t>
            </a:r>
            <a:r>
              <a:rPr lang="en-US" altLang="ja-JP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PCS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、蓄電池、スマートメータ）を設置することができるため、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施設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×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設備数の分、ループでエコめがね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API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を実行する。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※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電力量確認画面では、施設に紐づく、設備ごとの電力量を合計した値を表示する。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ja-JP" b="1" u="sng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B18F682-BD3F-7C2E-D057-7AA7C7230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80" y="2781209"/>
            <a:ext cx="4362215" cy="1051881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50B235F6-DC13-398E-9F5A-D853C600D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205" y="2781209"/>
            <a:ext cx="4362215" cy="105188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83FF59E-F932-9195-585E-FDDEF0CF1785}"/>
              </a:ext>
            </a:extLst>
          </p:cNvPr>
          <p:cNvSpPr/>
          <p:nvPr/>
        </p:nvSpPr>
        <p:spPr>
          <a:xfrm>
            <a:off x="988291" y="2346036"/>
            <a:ext cx="4950691" cy="17549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solidFill>
                <a:schemeClr val="dk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B6C4E10-220F-5C26-78A2-61698684F39F}"/>
              </a:ext>
            </a:extLst>
          </p:cNvPr>
          <p:cNvSpPr/>
          <p:nvPr/>
        </p:nvSpPr>
        <p:spPr>
          <a:xfrm>
            <a:off x="6386945" y="2346035"/>
            <a:ext cx="4950691" cy="17549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solidFill>
                <a:schemeClr val="dk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456C87A-09AF-5C8C-9610-F04D7F98DFDC}"/>
              </a:ext>
            </a:extLst>
          </p:cNvPr>
          <p:cNvSpPr txBox="1"/>
          <p:nvPr/>
        </p:nvSpPr>
        <p:spPr>
          <a:xfrm>
            <a:off x="3161023" y="2059246"/>
            <a:ext cx="8589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施設</a:t>
            </a:r>
            <a:r>
              <a:rPr kumimoji="1" lang="en-US" altLang="ja-JP" sz="14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</a:t>
            </a:r>
            <a:endParaRPr kumimoji="1" lang="ja-JP" altLang="en-US" sz="140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B57C7D4-5AF5-4DE5-4868-0C823B14A175}"/>
              </a:ext>
            </a:extLst>
          </p:cNvPr>
          <p:cNvSpPr txBox="1"/>
          <p:nvPr/>
        </p:nvSpPr>
        <p:spPr>
          <a:xfrm>
            <a:off x="8432799" y="2038258"/>
            <a:ext cx="8589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施設</a:t>
            </a:r>
            <a:r>
              <a:rPr lang="en-US" altLang="ja-JP" sz="140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B</a:t>
            </a:r>
            <a:endParaRPr kumimoji="1" lang="ja-JP" altLang="en-US" sz="140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0CCCD18-1918-A4E9-6C4A-188109501099}"/>
              </a:ext>
            </a:extLst>
          </p:cNvPr>
          <p:cNvSpPr/>
          <p:nvPr/>
        </p:nvSpPr>
        <p:spPr>
          <a:xfrm>
            <a:off x="1227899" y="2653812"/>
            <a:ext cx="1422937" cy="1327061"/>
          </a:xfrm>
          <a:prstGeom prst="rect">
            <a:avLst/>
          </a:prstGeom>
          <a:noFill/>
          <a:ln w="38100">
            <a:solidFill>
              <a:srgbClr val="33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solidFill>
                <a:schemeClr val="dk1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CF18930-E2BC-1FDD-D20C-1CE8BE77F453}"/>
              </a:ext>
            </a:extLst>
          </p:cNvPr>
          <p:cNvSpPr/>
          <p:nvPr/>
        </p:nvSpPr>
        <p:spPr>
          <a:xfrm>
            <a:off x="2803218" y="2653811"/>
            <a:ext cx="1547109" cy="1327061"/>
          </a:xfrm>
          <a:prstGeom prst="rect">
            <a:avLst/>
          </a:prstGeom>
          <a:noFill/>
          <a:ln w="38100">
            <a:solidFill>
              <a:srgbClr val="33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solidFill>
                <a:schemeClr val="dk1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2A076AE-18F0-8593-D675-5263BC4328DA}"/>
              </a:ext>
            </a:extLst>
          </p:cNvPr>
          <p:cNvSpPr/>
          <p:nvPr/>
        </p:nvSpPr>
        <p:spPr>
          <a:xfrm>
            <a:off x="4497555" y="2653810"/>
            <a:ext cx="1303922" cy="1327061"/>
          </a:xfrm>
          <a:prstGeom prst="rect">
            <a:avLst/>
          </a:prstGeom>
          <a:noFill/>
          <a:ln w="38100">
            <a:solidFill>
              <a:srgbClr val="33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solidFill>
                <a:schemeClr val="dk1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09A52FB1-75D2-83A3-C0B4-745A3CEE94FA}"/>
              </a:ext>
            </a:extLst>
          </p:cNvPr>
          <p:cNvSpPr/>
          <p:nvPr/>
        </p:nvSpPr>
        <p:spPr>
          <a:xfrm>
            <a:off x="6487416" y="2653811"/>
            <a:ext cx="1422937" cy="1327061"/>
          </a:xfrm>
          <a:prstGeom prst="rect">
            <a:avLst/>
          </a:prstGeom>
          <a:noFill/>
          <a:ln w="38100">
            <a:solidFill>
              <a:srgbClr val="33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solidFill>
                <a:schemeClr val="dk1"/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CD895DBE-3D4D-3B65-00F9-9DDD4A59ADFD}"/>
              </a:ext>
            </a:extLst>
          </p:cNvPr>
          <p:cNvSpPr/>
          <p:nvPr/>
        </p:nvSpPr>
        <p:spPr>
          <a:xfrm>
            <a:off x="8062735" y="2653810"/>
            <a:ext cx="1547109" cy="1327061"/>
          </a:xfrm>
          <a:prstGeom prst="rect">
            <a:avLst/>
          </a:prstGeom>
          <a:noFill/>
          <a:ln w="38100">
            <a:solidFill>
              <a:srgbClr val="33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solidFill>
                <a:schemeClr val="dk1"/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6A8FF8A3-0FEA-FA85-AE30-94EA14D439F2}"/>
              </a:ext>
            </a:extLst>
          </p:cNvPr>
          <p:cNvSpPr/>
          <p:nvPr/>
        </p:nvSpPr>
        <p:spPr>
          <a:xfrm>
            <a:off x="9757072" y="2653809"/>
            <a:ext cx="1303922" cy="1327061"/>
          </a:xfrm>
          <a:prstGeom prst="rect">
            <a:avLst/>
          </a:prstGeom>
          <a:noFill/>
          <a:ln w="38100">
            <a:solidFill>
              <a:srgbClr val="33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solidFill>
                <a:schemeClr val="dk1"/>
              </a:solidFill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25F1E05-744F-BEF4-EC81-739887CFD673}"/>
              </a:ext>
            </a:extLst>
          </p:cNvPr>
          <p:cNvSpPr txBox="1"/>
          <p:nvPr/>
        </p:nvSpPr>
        <p:spPr>
          <a:xfrm>
            <a:off x="1667594" y="2367022"/>
            <a:ext cx="8589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>
                <a:solidFill>
                  <a:srgbClr val="00CC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設備</a:t>
            </a:r>
            <a:r>
              <a:rPr kumimoji="1" lang="en-US" altLang="ja-JP" sz="1400">
                <a:solidFill>
                  <a:srgbClr val="00CC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</a:t>
            </a:r>
            <a:endParaRPr kumimoji="1" lang="ja-JP" altLang="en-US" sz="1400">
              <a:solidFill>
                <a:srgbClr val="00CCFF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62E0E91-14FD-988C-CCBF-DBE3ACB939C0}"/>
              </a:ext>
            </a:extLst>
          </p:cNvPr>
          <p:cNvSpPr txBox="1"/>
          <p:nvPr/>
        </p:nvSpPr>
        <p:spPr>
          <a:xfrm>
            <a:off x="3285836" y="2379849"/>
            <a:ext cx="8589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>
                <a:solidFill>
                  <a:srgbClr val="00CC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設備</a:t>
            </a:r>
            <a:r>
              <a:rPr kumimoji="1" lang="en-US" altLang="ja-JP" sz="1400">
                <a:solidFill>
                  <a:srgbClr val="00CC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B</a:t>
            </a:r>
            <a:endParaRPr kumimoji="1" lang="ja-JP" altLang="en-US" sz="1400">
              <a:solidFill>
                <a:srgbClr val="00CCFF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200A52AF-F11A-3B37-A46A-5B43C5AAB93D}"/>
              </a:ext>
            </a:extLst>
          </p:cNvPr>
          <p:cNvSpPr txBox="1"/>
          <p:nvPr/>
        </p:nvSpPr>
        <p:spPr>
          <a:xfrm>
            <a:off x="4786918" y="2379847"/>
            <a:ext cx="8589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>
                <a:solidFill>
                  <a:srgbClr val="00CC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設備</a:t>
            </a:r>
            <a:r>
              <a:rPr kumimoji="1" lang="en-US" altLang="ja-JP" sz="1400">
                <a:solidFill>
                  <a:srgbClr val="00CC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</a:t>
            </a:r>
            <a:endParaRPr kumimoji="1" lang="ja-JP" altLang="en-US" sz="1400">
              <a:solidFill>
                <a:srgbClr val="00CCFF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31CA7355-25F0-E65C-0A07-3C10B99FE070}"/>
              </a:ext>
            </a:extLst>
          </p:cNvPr>
          <p:cNvSpPr txBox="1"/>
          <p:nvPr/>
        </p:nvSpPr>
        <p:spPr>
          <a:xfrm>
            <a:off x="6835323" y="2376026"/>
            <a:ext cx="8589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>
                <a:solidFill>
                  <a:srgbClr val="00CC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設備</a:t>
            </a:r>
            <a:r>
              <a:rPr kumimoji="1" lang="en-US" altLang="ja-JP" sz="1400">
                <a:solidFill>
                  <a:srgbClr val="00CC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</a:t>
            </a:r>
            <a:endParaRPr kumimoji="1" lang="ja-JP" altLang="en-US" sz="1400">
              <a:solidFill>
                <a:srgbClr val="00CCFF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1B7FBF4-757E-7F3C-D2FF-6ADB7A3D4374}"/>
              </a:ext>
            </a:extLst>
          </p:cNvPr>
          <p:cNvSpPr txBox="1"/>
          <p:nvPr/>
        </p:nvSpPr>
        <p:spPr>
          <a:xfrm>
            <a:off x="8453565" y="2388853"/>
            <a:ext cx="8589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>
                <a:solidFill>
                  <a:srgbClr val="00CC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設備</a:t>
            </a:r>
            <a:r>
              <a:rPr kumimoji="1" lang="en-US" altLang="ja-JP" sz="1400">
                <a:solidFill>
                  <a:srgbClr val="00CC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B</a:t>
            </a:r>
            <a:endParaRPr kumimoji="1" lang="ja-JP" altLang="en-US" sz="1400">
              <a:solidFill>
                <a:srgbClr val="00CCFF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63439CC5-0068-4C5C-2C22-415D8907E1B6}"/>
              </a:ext>
            </a:extLst>
          </p:cNvPr>
          <p:cNvSpPr txBox="1"/>
          <p:nvPr/>
        </p:nvSpPr>
        <p:spPr>
          <a:xfrm>
            <a:off x="9954647" y="2388851"/>
            <a:ext cx="8589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>
                <a:solidFill>
                  <a:srgbClr val="00CC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設備</a:t>
            </a:r>
            <a:r>
              <a:rPr kumimoji="1" lang="en-US" altLang="ja-JP" sz="1400">
                <a:solidFill>
                  <a:srgbClr val="00CC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</a:t>
            </a:r>
            <a:endParaRPr kumimoji="1" lang="ja-JP" altLang="en-US" sz="1400">
              <a:solidFill>
                <a:srgbClr val="00CCFF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0A1879B2-82F9-F878-A2E3-41CC823278B9}"/>
              </a:ext>
            </a:extLst>
          </p:cNvPr>
          <p:cNvCxnSpPr>
            <a:cxnSpLocks/>
            <a:stCxn id="32" idx="0"/>
            <a:endCxn id="11" idx="2"/>
          </p:cNvCxnSpPr>
          <p:nvPr/>
        </p:nvCxnSpPr>
        <p:spPr>
          <a:xfrm flipH="1" flipV="1">
            <a:off x="1939368" y="3980873"/>
            <a:ext cx="4156417" cy="128174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43A2BDC9-F3B8-D275-7050-2B52ADD9DDDB}"/>
              </a:ext>
            </a:extLst>
          </p:cNvPr>
          <p:cNvCxnSpPr>
            <a:cxnSpLocks/>
            <a:stCxn id="32" idx="0"/>
            <a:endCxn id="12" idx="2"/>
          </p:cNvCxnSpPr>
          <p:nvPr/>
        </p:nvCxnSpPr>
        <p:spPr>
          <a:xfrm flipH="1" flipV="1">
            <a:off x="3576773" y="3980872"/>
            <a:ext cx="2519012" cy="128175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3A7A9BF1-BBD8-791C-E7B3-FF8E2B6A1C9F}"/>
              </a:ext>
            </a:extLst>
          </p:cNvPr>
          <p:cNvSpPr txBox="1"/>
          <p:nvPr/>
        </p:nvSpPr>
        <p:spPr>
          <a:xfrm>
            <a:off x="4350327" y="5262622"/>
            <a:ext cx="34909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00" b="1" u="sng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設備</a:t>
            </a:r>
            <a:r>
              <a:rPr kumimoji="1" lang="ja-JP" altLang="en-US" sz="1600" b="1" u="sng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数分、ループで処理を実行する。</a:t>
            </a: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63BF9698-E193-A981-B08B-D21F2A2DCB2A}"/>
              </a:ext>
            </a:extLst>
          </p:cNvPr>
          <p:cNvCxnSpPr>
            <a:cxnSpLocks/>
            <a:stCxn id="32" idx="0"/>
            <a:endCxn id="13" idx="2"/>
          </p:cNvCxnSpPr>
          <p:nvPr/>
        </p:nvCxnSpPr>
        <p:spPr>
          <a:xfrm flipH="1" flipV="1">
            <a:off x="5149516" y="3980871"/>
            <a:ext cx="946269" cy="12817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FB6685AE-F91D-2B2D-3933-6995CEE1F008}"/>
              </a:ext>
            </a:extLst>
          </p:cNvPr>
          <p:cNvCxnSpPr>
            <a:cxnSpLocks/>
            <a:stCxn id="32" idx="0"/>
            <a:endCxn id="17" idx="2"/>
          </p:cNvCxnSpPr>
          <p:nvPr/>
        </p:nvCxnSpPr>
        <p:spPr>
          <a:xfrm flipV="1">
            <a:off x="6095785" y="3980872"/>
            <a:ext cx="1103100" cy="128175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440CAF86-20DE-D13A-0BE6-0261A7D30938}"/>
              </a:ext>
            </a:extLst>
          </p:cNvPr>
          <p:cNvCxnSpPr>
            <a:cxnSpLocks/>
            <a:stCxn id="32" idx="0"/>
            <a:endCxn id="18" idx="2"/>
          </p:cNvCxnSpPr>
          <p:nvPr/>
        </p:nvCxnSpPr>
        <p:spPr>
          <a:xfrm flipV="1">
            <a:off x="6095785" y="3980871"/>
            <a:ext cx="2740505" cy="128175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C146308D-DCD1-1ED2-C97D-0C7601E6DA11}"/>
              </a:ext>
            </a:extLst>
          </p:cNvPr>
          <p:cNvCxnSpPr>
            <a:cxnSpLocks/>
            <a:stCxn id="32" idx="0"/>
            <a:endCxn id="19" idx="2"/>
          </p:cNvCxnSpPr>
          <p:nvPr/>
        </p:nvCxnSpPr>
        <p:spPr>
          <a:xfrm flipV="1">
            <a:off x="6095785" y="3980870"/>
            <a:ext cx="4313248" cy="128175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1769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>
          <a:defRPr sz="1400" dirty="0" smtClean="0">
            <a:solidFill>
              <a:schemeClr val="dk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bg1">
              <a:lumMod val="65000"/>
            </a:schemeClr>
          </a:solidFill>
          <a:headEnd type="none" w="med" len="med"/>
          <a:tailEnd type="arrow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kumimoji="1" sz="1400" dirty="0" smtClean="0">
            <a:latin typeface="Meiryo UI" panose="020B0604030504040204" pitchFamily="50" charset="-128"/>
            <a:ea typeface="Meiryo UI" panose="020B0604030504040204" pitchFamily="50" charset="-128"/>
            <a:cs typeface="Meiryo UI" panose="020B0604030504040204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68DA0C51891D3A419BAA75BD4E263FA7" ma:contentTypeVersion="3" ma:contentTypeDescription="新しいドキュメントを作成します。" ma:contentTypeScope="" ma:versionID="9edf0b4696c874c184f9eb5ff25e82c5">
  <xsd:schema xmlns:xsd="http://www.w3.org/2001/XMLSchema" xmlns:xs="http://www.w3.org/2001/XMLSchema" xmlns:p="http://schemas.microsoft.com/office/2006/metadata/properties" xmlns:ns2="214f894e-9dd2-4980-9f01-a0c67520b576" targetNamespace="http://schemas.microsoft.com/office/2006/metadata/properties" ma:root="true" ma:fieldsID="84d6f3e6fb82737de365ec9f687cd9cb" ns2:_="">
    <xsd:import namespace="214f894e-9dd2-4980-9f01-a0c67520b5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4f894e-9dd2-4980-9f01-a0c67520b5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19FAAC1-AD6E-4D86-9709-6E5F09C68095}">
  <ds:schemaRefs>
    <ds:schemaRef ds:uri="4fb5a1b5-b209-4e5a-b19e-95e44b6a3d40"/>
    <ds:schemaRef ds:uri="6d9ebf9d-df98-4097-a269-8e8dba97ac89"/>
    <ds:schemaRef ds:uri="7de215e6-2cde-4acb-953b-1aa34d57063b"/>
    <ds:schemaRef ds:uri="cb03c8eb-f4ca-4ddc-9707-f9be881e0763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B76FEBE-6168-4F00-86F9-FD1DC47537A6}"/>
</file>

<file path=customXml/itemProps3.xml><?xml version="1.0" encoding="utf-8"?>
<ds:datastoreItem xmlns:ds="http://schemas.openxmlformats.org/officeDocument/2006/customXml" ds:itemID="{BE1CC16B-83C6-4D37-ACC2-E1A9C7ECBAD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374</Words>
  <Application>Microsoft Office PowerPoint</Application>
  <PresentationFormat>ワイド画面</PresentationFormat>
  <Paragraphs>53</Paragraphs>
  <Slides>4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4</vt:i4>
      </vt:variant>
    </vt:vector>
  </HeadingPairs>
  <TitlesOfParts>
    <vt:vector size="11" baseType="lpstr">
      <vt:lpstr>HGP創英角ｺﾞｼｯｸUB</vt:lpstr>
      <vt:lpstr>Meiryo UI</vt:lpstr>
      <vt:lpstr>游ゴシック</vt:lpstr>
      <vt:lpstr>游ゴシック Light</vt:lpstr>
      <vt:lpstr>Arial</vt:lpstr>
      <vt:lpstr>Office テーマ</vt:lpstr>
      <vt:lpstr>2_Office テーマ</vt:lpstr>
      <vt:lpstr>変更履歴</vt:lpstr>
      <vt:lpstr>【エネマネ】バッチ仕様書</vt:lpstr>
      <vt:lpstr>【エネマネ】バッチ仕様書</vt:lpstr>
      <vt:lpstr>【エネマネ】バッチ仕様書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変更履歴</dc:title>
  <dc:creator>許　経超</dc:creator>
  <cp:lastModifiedBy>鄧　丹 / tou tan</cp:lastModifiedBy>
  <cp:revision>1</cp:revision>
  <dcterms:created xsi:type="dcterms:W3CDTF">2020-10-10T23:57:02Z</dcterms:created>
  <dcterms:modified xsi:type="dcterms:W3CDTF">2026-01-08T00:40:35Z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0x01010068DA0C51891D3A419BAA75BD4E263FA7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</Properties>
</file>